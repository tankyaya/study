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7" r:id="rId3"/>
    <p:sldId id="316" r:id="rId5"/>
    <p:sldId id="317" r:id="rId6"/>
    <p:sldId id="318" r:id="rId7"/>
    <p:sldId id="319" r:id="rId8"/>
    <p:sldId id="338" r:id="rId9"/>
    <p:sldId id="339" r:id="rId10"/>
    <p:sldId id="340" r:id="rId11"/>
    <p:sldId id="321" r:id="rId12"/>
    <p:sldId id="322" r:id="rId13"/>
    <p:sldId id="323" r:id="rId14"/>
    <p:sldId id="324" r:id="rId15"/>
    <p:sldId id="325" r:id="rId16"/>
    <p:sldId id="327" r:id="rId17"/>
    <p:sldId id="328" r:id="rId18"/>
    <p:sldId id="329" r:id="rId19"/>
    <p:sldId id="326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58" r:id="rId28"/>
    <p:sldId id="337" r:id="rId2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03C"/>
    <a:srgbClr val="5A5434"/>
    <a:srgbClr val="655E39"/>
    <a:srgbClr val="67603B"/>
    <a:srgbClr val="E9344C"/>
    <a:srgbClr val="BD152D"/>
    <a:srgbClr val="8E1022"/>
    <a:srgbClr val="8B0B20"/>
    <a:srgbClr val="39090C"/>
    <a:srgbClr val="4750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B92E1-C94F-4E4D-8A0E-4B9D7AE3E0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F45AA-F75D-418A-8F25-9917A1C4EB9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亮亮图文旗舰店</a:t>
            </a:r>
            <a:r>
              <a:rPr lang="en-US" altLang="zh-CN" dirty="0" smtClean="0"/>
              <a:t>https://liangliangtuwen.tmall.com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F45AA-F75D-418A-8F25-9917A1C4EB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raw.githubusercontent.com/teddysun/shadowsocks_install/master/shadowsocks-libev-debian.sh" TargetMode="Externa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hyperlink" Target="http://photo.blog.sina.com.cn/showpic.html#blogid=&amp;url=http://album.sina.com.cn/pic/006QTR5ezy7jTqDsoB7ed" TargetMode="Externa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hyperlink" Target="http://photo.blog.sina.com.cn/showpic.html#blogid=&amp;url=http://album.sina.com.cn/pic/006QTR5ezy7jTqGCZLPf9" TargetMode="Externa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jpeg"/><Relationship Id="rId2" Type="http://schemas.openxmlformats.org/officeDocument/2006/relationships/hyperlink" Target="http://photo.blog.sina.com.cn/showpic.html#blogid=&amp;url=http://album.sina.com.cn/pic/006QTR5ezy7jTqKBy3i0c" TargetMode="Externa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jpeg"/><Relationship Id="rId2" Type="http://schemas.openxmlformats.org/officeDocument/2006/relationships/hyperlink" Target="http://photo.blog.sina.com.cn/showpic.html#blogid=&amp;url=http://album.sina.com.cn/pic/006QTR5ezy7jTqOdTf63c" TargetMode="Externa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E:\陈建\网上作图\PP制作\素材\未标题-2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80" y="0"/>
            <a:ext cx="91805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707302" y="1372275"/>
            <a:ext cx="3992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大黑简体" pitchFamily="65" charset="-122"/>
                <a:ea typeface="方正大黑简体" pitchFamily="65" charset="-122"/>
              </a:rPr>
              <a:t>膜法小课堂</a:t>
            </a:r>
            <a:endParaRPr lang="zh-CN" altLang="en-US" sz="6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大黑简体" pitchFamily="65" charset="-122"/>
              <a:ea typeface="方正大黑简体" pitchFamily="65" charset="-122"/>
            </a:endParaRPr>
          </a:p>
        </p:txBody>
      </p:sp>
      <p:pic>
        <p:nvPicPr>
          <p:cNvPr id="2053" name="Picture 5" descr="E:\陈建\网上作图\PP制作\素材\未标题-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630" y="3075806"/>
            <a:ext cx="3886200" cy="74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918869" y="2386890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E9344C"/>
                </a:solidFill>
                <a:latin typeface="方正兰亭中黑_GBK" pitchFamily="2" charset="-122"/>
                <a:ea typeface="方正兰亭中黑_GBK" pitchFamily="2" charset="-122"/>
              </a:rPr>
              <a:t>——</a:t>
            </a:r>
            <a:r>
              <a:rPr lang="zh-CN" altLang="en-US" sz="2000" dirty="0" smtClean="0">
                <a:solidFill>
                  <a:srgbClr val="E9344C"/>
                </a:solidFill>
                <a:latin typeface="方正兰亭中黑_GBK" pitchFamily="2" charset="-122"/>
                <a:ea typeface="方正兰亭中黑_GBK" pitchFamily="2" charset="-122"/>
              </a:rPr>
              <a:t>科学上网</a:t>
            </a:r>
            <a:endParaRPr lang="zh-CN" altLang="en-US" sz="2000" dirty="0" smtClean="0">
              <a:solidFill>
                <a:srgbClr val="E9344C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08721" y="3279499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微软创新工作室</a:t>
            </a:r>
            <a:endParaRPr lang="zh-CN" altLang="en-US" sz="16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2094994" y="1219021"/>
            <a:ext cx="5466080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走进科学上网，探索生命奥义</a:t>
            </a:r>
            <a:endParaRPr lang="zh-CN" altLang="en-US" sz="32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60" y="1890395"/>
            <a:ext cx="3589655" cy="1833880"/>
          </a:xfrm>
          <a:prstGeom prst="rect">
            <a:avLst/>
          </a:prstGeom>
        </p:spPr>
      </p:pic>
      <p:sp>
        <p:nvSpPr>
          <p:cNvPr id="3" name="TextBox 15"/>
          <p:cNvSpPr txBox="1"/>
          <p:nvPr/>
        </p:nvSpPr>
        <p:spPr>
          <a:xfrm>
            <a:off x="3086864" y="3889831"/>
            <a:ext cx="3535680" cy="4603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p>
            <a:r>
              <a:rPr lang="zh-CN" altLang="en-US" sz="24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敲黑板！划重点！要考！</a:t>
            </a:r>
            <a:endParaRPr lang="zh-CN" altLang="en-US" sz="24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15"/>
          <p:cNvSpPr txBox="1"/>
          <p:nvPr/>
        </p:nvSpPr>
        <p:spPr>
          <a:xfrm>
            <a:off x="2925574" y="1072336"/>
            <a:ext cx="3293110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p>
            <a:r>
              <a:rPr lang="en-US" altLang="zh-CN" sz="3200" dirty="0" smtClean="0">
                <a:solidFill>
                  <a:schemeClr val="bg1"/>
                </a:solidFill>
                <a:latin typeface="Segoe Print" panose="02000600000000000000" charset="0"/>
                <a:ea typeface="方正兰亭黑简体" pitchFamily="2" charset="-122"/>
                <a:cs typeface="Segoe Print" panose="02000600000000000000" charset="0"/>
              </a:rPr>
              <a:t>The Great Wall</a:t>
            </a:r>
            <a:endParaRPr lang="en-US" altLang="zh-CN" sz="3200" dirty="0" smtClean="0">
              <a:solidFill>
                <a:schemeClr val="bg1"/>
              </a:solidFill>
              <a:latin typeface="Segoe Print" panose="02000600000000000000" charset="0"/>
              <a:ea typeface="方正兰亭黑简体" pitchFamily="2" charset="-122"/>
              <a:cs typeface="Segoe Print" panose="02000600000000000000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110" y="1656080"/>
            <a:ext cx="3756025" cy="2499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15"/>
          <p:cNvSpPr txBox="1"/>
          <p:nvPr/>
        </p:nvSpPr>
        <p:spPr>
          <a:xfrm>
            <a:off x="2414399" y="1065351"/>
            <a:ext cx="4556125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p>
            <a:r>
              <a:rPr lang="en-US" altLang="zh-CN" sz="3200" dirty="0" smtClean="0">
                <a:solidFill>
                  <a:schemeClr val="bg1"/>
                </a:solidFill>
                <a:latin typeface="Segoe Print" panose="02000600000000000000" charset="0"/>
                <a:ea typeface="方正兰亭黑简体" pitchFamily="2" charset="-122"/>
                <a:cs typeface="Segoe Print" panose="02000600000000000000" charset="0"/>
              </a:rPr>
              <a:t>GFW (Great Firewall)</a:t>
            </a:r>
            <a:endParaRPr lang="en-US" altLang="zh-CN" sz="3200" dirty="0" smtClean="0">
              <a:solidFill>
                <a:schemeClr val="bg1"/>
              </a:solidFill>
              <a:latin typeface="Segoe Print" panose="02000600000000000000" charset="0"/>
              <a:ea typeface="方正兰亭黑简体" pitchFamily="2" charset="-122"/>
              <a:cs typeface="Segoe Print" panose="02000600000000000000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410" y="1726565"/>
            <a:ext cx="3453765" cy="2657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10"/>
          <p:cNvSpPr txBox="1"/>
          <p:nvPr/>
        </p:nvSpPr>
        <p:spPr>
          <a:xfrm>
            <a:off x="2320290" y="3194685"/>
            <a:ext cx="1583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32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Why???</a:t>
            </a:r>
            <a:endParaRPr lang="en-US" altLang="zh-CN" sz="3200" b="1" dirty="0" smtClean="0">
              <a:solidFill>
                <a:srgbClr val="FFFFFF"/>
              </a:solidFill>
              <a:latin typeface="方正兰亭黑简体" pitchFamily="2" charset="-122"/>
              <a:ea typeface="方正兰亭黑简体" pitchFamily="2" charset="-122"/>
              <a:cs typeface="Roboto condense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76979" y="1347614"/>
            <a:ext cx="1198880" cy="33718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关键字过滤</a:t>
            </a:r>
            <a:endParaRPr lang="zh-CN" altLang="en-US" sz="16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76979" y="1830609"/>
            <a:ext cx="2621280" cy="33718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封锁特定</a:t>
            </a:r>
            <a:r>
              <a:rPr lang="en-US" altLang="zh-CN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IP</a:t>
            </a:r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地址或特定端口</a:t>
            </a:r>
            <a:endParaRPr lang="zh-CN" altLang="en-US" sz="16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6979" y="2313604"/>
            <a:ext cx="1503680" cy="33718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DNS</a:t>
            </a:r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污染、劫持</a:t>
            </a:r>
            <a:endParaRPr lang="zh-CN" altLang="en-US" sz="16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76979" y="2796599"/>
            <a:ext cx="3332480" cy="33718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阻断</a:t>
            </a:r>
            <a:r>
              <a:rPr lang="en-US" altLang="zh-CN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SSL</a:t>
            </a:r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连接（例如分析公钥证书）</a:t>
            </a:r>
            <a:endParaRPr lang="zh-CN" altLang="en-US" sz="16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76979" y="3317696"/>
            <a:ext cx="589280" cy="33718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……</a:t>
            </a:r>
            <a:endParaRPr lang="en-US" altLang="zh-CN" sz="16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336284" y="1993995"/>
            <a:ext cx="923724" cy="508908"/>
            <a:chOff x="3832228" y="1993995"/>
            <a:chExt cx="923724" cy="508908"/>
          </a:xfrm>
        </p:grpSpPr>
        <p:cxnSp>
          <p:nvCxnSpPr>
            <p:cNvPr id="9" name="Straight Connector 108"/>
            <p:cNvCxnSpPr/>
            <p:nvPr/>
          </p:nvCxnSpPr>
          <p:spPr>
            <a:xfrm flipV="1">
              <a:off x="3832228" y="2034850"/>
              <a:ext cx="854436" cy="468053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45"/>
            <p:cNvSpPr/>
            <p:nvPr/>
          </p:nvSpPr>
          <p:spPr bwMode="auto">
            <a:xfrm>
              <a:off x="4674243" y="1993995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8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336284" y="2466330"/>
            <a:ext cx="923724" cy="81709"/>
            <a:chOff x="3832228" y="2466330"/>
            <a:chExt cx="923724" cy="81709"/>
          </a:xfrm>
        </p:grpSpPr>
        <p:cxnSp>
          <p:nvCxnSpPr>
            <p:cNvPr id="10" name="Straight Connector 109"/>
            <p:cNvCxnSpPr/>
            <p:nvPr/>
          </p:nvCxnSpPr>
          <p:spPr>
            <a:xfrm>
              <a:off x="3832228" y="2507185"/>
              <a:ext cx="854436" cy="647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45"/>
            <p:cNvSpPr/>
            <p:nvPr/>
          </p:nvSpPr>
          <p:spPr bwMode="auto">
            <a:xfrm>
              <a:off x="4674243" y="2466330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8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336284" y="2510422"/>
            <a:ext cx="923724" cy="525949"/>
            <a:chOff x="3832228" y="2510422"/>
            <a:chExt cx="923724" cy="525949"/>
          </a:xfrm>
        </p:grpSpPr>
        <p:cxnSp>
          <p:nvCxnSpPr>
            <p:cNvPr id="8" name="Straight Connector 107"/>
            <p:cNvCxnSpPr/>
            <p:nvPr/>
          </p:nvCxnSpPr>
          <p:spPr>
            <a:xfrm>
              <a:off x="3832228" y="2510422"/>
              <a:ext cx="858888" cy="488921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45"/>
            <p:cNvSpPr/>
            <p:nvPr/>
          </p:nvSpPr>
          <p:spPr bwMode="auto">
            <a:xfrm>
              <a:off x="4674243" y="2954662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8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311175" y="2502902"/>
            <a:ext cx="948833" cy="1024285"/>
            <a:chOff x="3807119" y="2502902"/>
            <a:chExt cx="948833" cy="1024285"/>
          </a:xfrm>
        </p:grpSpPr>
        <p:cxnSp>
          <p:nvCxnSpPr>
            <p:cNvPr id="17" name="Straight Connector 107"/>
            <p:cNvCxnSpPr/>
            <p:nvPr/>
          </p:nvCxnSpPr>
          <p:spPr>
            <a:xfrm>
              <a:off x="3807119" y="2502902"/>
              <a:ext cx="879545" cy="100081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45"/>
            <p:cNvSpPr/>
            <p:nvPr/>
          </p:nvSpPr>
          <p:spPr bwMode="auto">
            <a:xfrm>
              <a:off x="4674243" y="3445478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8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235296" y="1515088"/>
            <a:ext cx="1024712" cy="1061154"/>
            <a:chOff x="3731240" y="1515088"/>
            <a:chExt cx="1024712" cy="1061154"/>
          </a:xfrm>
        </p:grpSpPr>
        <p:sp>
          <p:nvSpPr>
            <p:cNvPr id="6" name="Oval 45"/>
            <p:cNvSpPr/>
            <p:nvPr/>
          </p:nvSpPr>
          <p:spPr bwMode="auto">
            <a:xfrm>
              <a:off x="4674243" y="1515088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80604020202020204" pitchFamily="34" charset="0"/>
              </a:endParaRPr>
            </a:p>
          </p:txBody>
        </p:sp>
        <p:cxnSp>
          <p:nvCxnSpPr>
            <p:cNvPr id="7" name="Straight Connector 7"/>
            <p:cNvCxnSpPr/>
            <p:nvPr/>
          </p:nvCxnSpPr>
          <p:spPr>
            <a:xfrm flipH="1">
              <a:off x="3811567" y="1566798"/>
              <a:ext cx="875097" cy="93610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45"/>
            <p:cNvSpPr/>
            <p:nvPr/>
          </p:nvSpPr>
          <p:spPr bwMode="auto">
            <a:xfrm>
              <a:off x="3731240" y="2459288"/>
              <a:ext cx="116954" cy="116954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80604020202020204" pitchFamily="34" charset="0"/>
              </a:endParaRPr>
            </a:p>
          </p:txBody>
        </p:sp>
      </p:grpSp>
      <p:pic>
        <p:nvPicPr>
          <p:cNvPr id="2" name="图片 1" descr="DC80ABF2AFC00F9B0ED5A7B197376BC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40" y="1566545"/>
            <a:ext cx="1520825" cy="1520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3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800"/>
                            </p:stCondLst>
                            <p:childTnLst>
                              <p:par>
                                <p:cTn id="3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65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150"/>
                            </p:stCondLst>
                            <p:childTnLst>
                              <p:par>
                                <p:cTn id="5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45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950"/>
                            </p:stCondLst>
                            <p:childTnLst>
                              <p:par>
                                <p:cTn id="6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478280" y="1399540"/>
            <a:ext cx="64808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 err="1">
                <a:solidFill>
                  <a:schemeClr val="bg1"/>
                </a:solidFill>
              </a:rPr>
              <a:t>vpn</a:t>
            </a:r>
            <a:r>
              <a:rPr lang="en-US" altLang="zh-CN" sz="2400" b="1" dirty="0">
                <a:solidFill>
                  <a:schemeClr val="bg1"/>
                </a:solidFill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</a:rPr>
              <a:t>虚拟专用网络，它的功能是：在公用网络上建立专用网络，进行加密通讯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。流量特征明显，目前容易被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GFW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识别出来，所以现在用来翻墙很不稳定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423035" y="1098550"/>
            <a:ext cx="64808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 smtClean="0">
                <a:solidFill>
                  <a:schemeClr val="bg1"/>
                </a:solidFill>
                <a:sym typeface="+mn-ea"/>
              </a:rPr>
              <a:t>SS—</a:t>
            </a:r>
            <a:r>
              <a:rPr lang="en-US" altLang="zh-CN" sz="2400" b="1" dirty="0" err="1" smtClean="0">
                <a:solidFill>
                  <a:schemeClr val="bg1"/>
                </a:solidFill>
                <a:sym typeface="+mn-ea"/>
              </a:rPr>
              <a:t>shadowsocks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（影梭）作者是</a:t>
            </a:r>
            <a:r>
              <a:rPr lang="en-US" altLang="zh-CN" sz="2400" b="1" dirty="0" err="1" smtClean="0">
                <a:solidFill>
                  <a:schemeClr val="bg1"/>
                </a:solidFill>
                <a:sym typeface="+mn-ea"/>
              </a:rPr>
              <a:t>clowwindy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，为了翻墙方便写了</a:t>
            </a:r>
            <a:r>
              <a:rPr lang="en-US" altLang="zh-CN" sz="2400" b="1" dirty="0" err="1" smtClean="0">
                <a:solidFill>
                  <a:schemeClr val="bg1"/>
                </a:solidFill>
                <a:sym typeface="+mn-ea"/>
              </a:rPr>
              <a:t>ss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，后来分享到</a:t>
            </a:r>
            <a:r>
              <a:rPr lang="en-US" altLang="zh-CN" sz="2400" b="1" dirty="0" err="1" smtClean="0">
                <a:solidFill>
                  <a:schemeClr val="bg1"/>
                </a:solidFill>
                <a:sym typeface="+mn-ea"/>
              </a:rPr>
              <a:t>github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，然后就去喝茶了。</a:t>
            </a:r>
            <a:endParaRPr lang="zh-CN" altLang="en-US" sz="2400" b="1" dirty="0" smtClean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50" y="2371725"/>
            <a:ext cx="6184900" cy="1543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478280" y="1399540"/>
            <a:ext cx="64808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 smtClean="0">
                <a:solidFill>
                  <a:schemeClr val="bg1"/>
                </a:solidFill>
                <a:sym typeface="+mn-ea"/>
              </a:rPr>
              <a:t>SSR—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即</a:t>
            </a:r>
            <a:r>
              <a:rPr lang="en-US" altLang="zh-CN" sz="2400" b="1" dirty="0" err="1" smtClean="0">
                <a:solidFill>
                  <a:schemeClr val="bg1"/>
                </a:solidFill>
                <a:sym typeface="+mn-ea"/>
              </a:rPr>
              <a:t>shadowsocks</a:t>
            </a:r>
            <a:r>
              <a:rPr lang="en-US" altLang="zh-CN" sz="2400" b="1" dirty="0" smtClean="0">
                <a:solidFill>
                  <a:schemeClr val="bg1"/>
                </a:solidFill>
                <a:sym typeface="+mn-ea"/>
              </a:rPr>
              <a:t>-R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。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在</a:t>
            </a:r>
            <a:r>
              <a:rPr lang="en-US" altLang="zh-CN" sz="2400" b="1" dirty="0" err="1">
                <a:solidFill>
                  <a:schemeClr val="bg1"/>
                </a:solidFill>
                <a:sym typeface="+mn-ea"/>
              </a:rPr>
              <a:t>ss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作者被喝茶之后，</a:t>
            </a:r>
            <a:r>
              <a:rPr lang="en-US" altLang="zh-CN" sz="2400" b="1" dirty="0" err="1">
                <a:solidFill>
                  <a:schemeClr val="bg1"/>
                </a:solidFill>
                <a:sym typeface="+mn-ea"/>
              </a:rPr>
              <a:t>github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上出现了一个叫</a:t>
            </a:r>
            <a:r>
              <a:rPr lang="en-US" altLang="zh-CN" sz="2400" b="1" dirty="0">
                <a:solidFill>
                  <a:schemeClr val="bg1"/>
                </a:solidFill>
                <a:sym typeface="+mn-ea"/>
              </a:rPr>
              <a:t>breakwa11(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破娃</a:t>
            </a:r>
            <a:r>
              <a:rPr lang="en-US" altLang="zh-CN" sz="2400" b="1" dirty="0">
                <a:solidFill>
                  <a:schemeClr val="bg1"/>
                </a:solidFill>
                <a:sym typeface="+mn-ea"/>
              </a:rPr>
              <a:t>)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的帐号，声称</a:t>
            </a:r>
            <a:r>
              <a:rPr lang="en-US" altLang="zh-CN" sz="2400" b="1" dirty="0" err="1">
                <a:solidFill>
                  <a:schemeClr val="bg1"/>
                </a:solidFill>
                <a:sym typeface="+mn-ea"/>
              </a:rPr>
              <a:t>ss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容易被防火墙检测到，所以在混淆和协议方面做了改进，更加不容易被检测到，而且兼容</a:t>
            </a:r>
            <a:r>
              <a:rPr lang="en-US" altLang="zh-CN" sz="2400" b="1" dirty="0" err="1">
                <a:solidFill>
                  <a:schemeClr val="bg1"/>
                </a:solidFill>
                <a:sym typeface="+mn-ea"/>
              </a:rPr>
              <a:t>ss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，改进后的项目叫</a:t>
            </a:r>
            <a:r>
              <a:rPr lang="en-US" altLang="zh-CN" sz="2400" b="1" dirty="0" err="1">
                <a:solidFill>
                  <a:schemeClr val="bg1"/>
                </a:solidFill>
                <a:sym typeface="+mn-ea"/>
              </a:rPr>
              <a:t>shadowsocks</a:t>
            </a:r>
            <a:r>
              <a:rPr lang="en-US" altLang="zh-CN" sz="2400" b="1" dirty="0">
                <a:solidFill>
                  <a:schemeClr val="bg1"/>
                </a:solidFill>
                <a:sym typeface="+mn-ea"/>
              </a:rPr>
              <a:t>-R</a:t>
            </a:r>
            <a:endParaRPr lang="en-US" altLang="zh-CN" sz="2400" b="1" dirty="0" smtClean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2985264" y="1051381"/>
            <a:ext cx="3434080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原理</a:t>
            </a:r>
            <a:r>
              <a:rPr lang="en-US" altLang="zh-CN" sz="32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(</a:t>
            </a:r>
            <a:r>
              <a:rPr lang="zh-CN" altLang="en-US" sz="32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通俗易懂版</a:t>
            </a:r>
            <a:r>
              <a:rPr lang="en-US" altLang="zh-CN" sz="32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)</a:t>
            </a:r>
            <a:endParaRPr lang="en-US" altLang="zh-CN" sz="32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5158" r="3526" b="3148"/>
          <a:stretch>
            <a:fillRect/>
          </a:stretch>
        </p:blipFill>
        <p:spPr>
          <a:xfrm>
            <a:off x="3055620" y="1705610"/>
            <a:ext cx="3293745" cy="2607945"/>
          </a:xfrm>
          <a:prstGeom prst="rect">
            <a:avLst/>
          </a:prstGeom>
        </p:spPr>
      </p:pic>
      <p:sp>
        <p:nvSpPr>
          <p:cNvPr id="5" name="左箭头 4"/>
          <p:cNvSpPr/>
          <p:nvPr/>
        </p:nvSpPr>
        <p:spPr>
          <a:xfrm>
            <a:off x="5978525" y="2012315"/>
            <a:ext cx="1116965" cy="284480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Box 15"/>
          <p:cNvSpPr txBox="1"/>
          <p:nvPr/>
        </p:nvSpPr>
        <p:spPr>
          <a:xfrm>
            <a:off x="7141974" y="1924506"/>
            <a:ext cx="1402080" cy="4603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p>
            <a:r>
              <a:rPr lang="zh-CN" altLang="en-US" sz="24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你的电脑</a:t>
            </a:r>
            <a:endParaRPr lang="zh-CN" altLang="en-US" sz="24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" name="左箭头 6"/>
          <p:cNvSpPr/>
          <p:nvPr/>
        </p:nvSpPr>
        <p:spPr>
          <a:xfrm rot="10800000">
            <a:off x="2521585" y="2385060"/>
            <a:ext cx="1116965" cy="284480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 rot="10800000">
            <a:off x="2521585" y="3586480"/>
            <a:ext cx="1352550" cy="284480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TextBox 15"/>
          <p:cNvSpPr txBox="1"/>
          <p:nvPr/>
        </p:nvSpPr>
        <p:spPr>
          <a:xfrm>
            <a:off x="709424" y="2254706"/>
            <a:ext cx="1706880" cy="4603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p>
            <a:r>
              <a:rPr lang="zh-CN" altLang="en-US" sz="24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代理服务器</a:t>
            </a:r>
            <a:endParaRPr lang="zh-CN" altLang="en-US" sz="24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1235204" y="3452316"/>
            <a:ext cx="1097280" cy="4603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p>
            <a:r>
              <a:rPr lang="en-US" altLang="zh-CN" sz="24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Google</a:t>
            </a:r>
            <a:endParaRPr lang="en-US" altLang="zh-CN" sz="24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745" y="1021715"/>
            <a:ext cx="6875145" cy="319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2782064" y="1135201"/>
            <a:ext cx="3840480" cy="5835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让我们开始实践吧！</a:t>
            </a:r>
            <a:endParaRPr lang="zh-CN" altLang="en-US" sz="32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000250" y="2061845"/>
            <a:ext cx="5760720" cy="13677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15"/>
          <p:cNvSpPr txBox="1"/>
          <p:nvPr/>
        </p:nvSpPr>
        <p:spPr>
          <a:xfrm>
            <a:off x="2250440" y="2146300"/>
            <a:ext cx="5259705" cy="1198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首先你需要一台境外的服务器，我们可以通过购买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vps</a:t>
            </a:r>
            <a:r>
              <a:rPr lang="zh-CN" altLang="en-US" sz="2400" b="1" dirty="0" err="1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。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常用的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vps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有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vultr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搬瓦工等。</a:t>
            </a: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40" y="1022985"/>
            <a:ext cx="7030720" cy="3355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10" y="383540"/>
            <a:ext cx="7205345" cy="4246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10" y="1196340"/>
            <a:ext cx="5652135" cy="2750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80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835" y="1047115"/>
            <a:ext cx="3768725" cy="3224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970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620" y="1092200"/>
            <a:ext cx="5039995" cy="321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685" y="1055370"/>
            <a:ext cx="5255895" cy="313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单圆角矩形 3"/>
          <p:cNvSpPr/>
          <p:nvPr/>
        </p:nvSpPr>
        <p:spPr>
          <a:xfrm>
            <a:off x="321945" y="1202690"/>
            <a:ext cx="8065135" cy="3024505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6080" y="1376680"/>
            <a:ext cx="754570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arenR"/>
            </a:pPr>
            <a:r>
              <a:rPr lang="en-US" altLang="zh-CN" b="1" dirty="0" smtClean="0">
                <a:solidFill>
                  <a:schemeClr val="tx1"/>
                </a:solidFill>
              </a:rPr>
              <a:t>:</a:t>
            </a:r>
            <a:r>
              <a:rPr lang="en-US" altLang="zh-CN" b="1" dirty="0" err="1">
                <a:solidFill>
                  <a:schemeClr val="tx1"/>
                </a:solidFill>
              </a:rPr>
              <a:t>wget</a:t>
            </a:r>
            <a:r>
              <a:rPr lang="en-US" altLang="zh-CN" b="1" dirty="0">
                <a:solidFill>
                  <a:schemeClr val="tx1"/>
                </a:solidFill>
              </a:rPr>
              <a:t> --no-check-certificate </a:t>
            </a:r>
            <a:r>
              <a:rPr lang="en-US" altLang="zh-CN" b="1" dirty="0">
                <a:solidFill>
                  <a:schemeClr val="tx1"/>
                </a:solidFill>
                <a:hlinkClick r:id="rId2"/>
              </a:rPr>
              <a:t>https://</a:t>
            </a:r>
            <a:r>
              <a:rPr lang="en-US" altLang="zh-CN" b="1" dirty="0" smtClean="0">
                <a:solidFill>
                  <a:schemeClr val="tx1"/>
                </a:solidFill>
                <a:hlinkClick r:id="rId2"/>
              </a:rPr>
              <a:t>raw.githubusercontent.com/teddysun/shadowsocks_install/master/shadowsocks-libev-debian.sh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2):</a:t>
            </a:r>
            <a:r>
              <a:rPr lang="en-US" altLang="zh-CN" b="1" dirty="0" err="1">
                <a:solidFill>
                  <a:schemeClr val="tx1"/>
                </a:solidFill>
              </a:rPr>
              <a:t>chmod</a:t>
            </a:r>
            <a:r>
              <a:rPr lang="en-US" altLang="zh-CN" b="1" dirty="0">
                <a:solidFill>
                  <a:schemeClr val="tx1"/>
                </a:solidFill>
              </a:rPr>
              <a:t> +x </a:t>
            </a:r>
            <a:r>
              <a:rPr lang="en-US" altLang="zh-CN" b="1" dirty="0" smtClean="0">
                <a:solidFill>
                  <a:schemeClr val="tx1"/>
                </a:solidFill>
              </a:rPr>
              <a:t>shadowsocks-libev-debian.sh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endParaRPr lang="en-US" altLang="zh-CN" b="1" dirty="0">
              <a:solidFill>
                <a:schemeClr val="tx1"/>
              </a:solidFill>
            </a:endParaRPr>
          </a:p>
          <a:p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3):./shadowsocks-libev-debian.sh 2&gt;&amp;1 | tee shadowsocks-libev-debian.log</a:t>
            </a:r>
            <a:endParaRPr lang="zh-CN" altLang="zh-CN" sz="2400" b="1" dirty="0">
              <a:solidFill>
                <a:schemeClr val="bg1"/>
              </a:solidFill>
            </a:endParaRPr>
          </a:p>
          <a:p>
            <a:endParaRPr lang="zh-CN" altLang="zh-CN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http://s14.sinaimg.cn/mw690/006QTR5ezy7jTqDsoB7ed">
            <a:hlinkClick r:id="rId2" tgtFrame="&quot;_blank&quot;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755" y="1048385"/>
            <a:ext cx="6596380" cy="304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62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http://s10.sinaimg.cn/mw690/006QTR5ezy7jTqGCZLPf9">
            <a:hlinkClick r:id="rId2" tgtFrame="&quot;_blank&quot;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610" y="1092200"/>
            <a:ext cx="5365115" cy="31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http://s13.sinaimg.cn/mw690/006QTR5ezy7jTqKBy3i0c">
            <a:hlinkClick r:id="rId2" tgtFrame="&quot;_blank&quot;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099820"/>
            <a:ext cx="5473700" cy="308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http://s13.sinaimg.cn/mw690/006QTR5ezy7jTqOdTf63c">
            <a:hlinkClick r:id="rId2" tgtFrame="&quot;_blank&quot;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590" y="1254125"/>
            <a:ext cx="6306185" cy="239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" t="4713" r="5173" b="1952"/>
          <a:stretch>
            <a:fillRect/>
          </a:stretch>
        </p:blipFill>
        <p:spPr>
          <a:xfrm>
            <a:off x="1298575" y="1151255"/>
            <a:ext cx="2708275" cy="31546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74820" y="1882775"/>
            <a:ext cx="3937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 smtClean="0">
                <a:solidFill>
                  <a:schemeClr val="bg1"/>
                </a:solidFill>
              </a:rPr>
              <a:t>https://github.com/shadowsocks/shadowsocks-windows</a:t>
            </a:r>
            <a:endParaRPr lang="en-US" altLang="zh-CN" sz="2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585" y="1101725"/>
            <a:ext cx="4959350" cy="304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1322705" y="1744980"/>
            <a:ext cx="6671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 smtClean="0">
                <a:solidFill>
                  <a:schemeClr val="bg1"/>
                </a:solidFill>
              </a:rPr>
              <a:t>拓展小任务：了解并配置谷歌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BBR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来进行加速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" descr="E:\陈建\网上作图\PP制作\素材\未标题-6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095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圆角矩形 3"/>
          <p:cNvSpPr/>
          <p:nvPr/>
        </p:nvSpPr>
        <p:spPr>
          <a:xfrm>
            <a:off x="859155" y="1177925"/>
            <a:ext cx="7272655" cy="29521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6185" y="1100455"/>
            <a:ext cx="653923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 smtClean="0">
                <a:solidFill>
                  <a:schemeClr val="tx1"/>
                </a:solidFill>
              </a:rPr>
              <a:t>除了</a:t>
            </a:r>
            <a:r>
              <a:rPr lang="en-US" altLang="zh-CN" sz="2800" b="1" dirty="0" err="1" smtClean="0">
                <a:solidFill>
                  <a:schemeClr val="tx1"/>
                </a:solidFill>
              </a:rPr>
              <a:t>ss,ssr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等，现在还有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v2ray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，它的功能更加强大，也更加复杂，这里就不介绍了，有兴趣的小伙伴可以自行了解下。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r>
              <a:rPr lang="zh-CN" altLang="en-US" sz="2800" b="1" dirty="0" smtClean="0">
                <a:solidFill>
                  <a:schemeClr val="tx1"/>
                </a:solidFill>
              </a:rPr>
              <a:t>最后，希望各位永远保持好奇，去探索墙外的世界！</a:t>
            </a:r>
            <a:r>
              <a:rPr lang="en-US" altLang="zh-CN" sz="2800" b="1" dirty="0">
                <a:solidFill>
                  <a:schemeClr val="tx1"/>
                </a:solidFill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						          ——</a:t>
            </a:r>
            <a:r>
              <a:rPr lang="en-US" altLang="zh-CN" sz="2800" b="1" dirty="0" err="1" smtClean="0">
                <a:solidFill>
                  <a:schemeClr val="tx1"/>
                </a:solidFill>
              </a:rPr>
              <a:t>bdwms</a:t>
            </a:r>
            <a:endParaRPr lang="en-US" altLang="zh-CN" sz="2800" b="1" dirty="0" err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</Words>
  <Application>WPS 演示</Application>
  <PresentationFormat>全屏显示(16:9)</PresentationFormat>
  <Paragraphs>59</Paragraphs>
  <Slides>26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Arial</vt:lpstr>
      <vt:lpstr>宋体</vt:lpstr>
      <vt:lpstr>Wingdings</vt:lpstr>
      <vt:lpstr>方正大黑简体</vt:lpstr>
      <vt:lpstr>方正兰亭中黑_GBK</vt:lpstr>
      <vt:lpstr>方正兰亭黑简体</vt:lpstr>
      <vt:lpstr>Segoe Print</vt:lpstr>
      <vt:lpstr>Roboto condensed</vt:lpstr>
      <vt:lpstr>Monospace</vt:lpstr>
      <vt:lpstr>DejaVu Sans</vt:lpstr>
      <vt:lpstr>宋体</vt:lpstr>
      <vt:lpstr>DejaVu Math TeX Gyre</vt:lpstr>
      <vt:lpstr>Noto Sans CJK JP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http://www.deepbbs.org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深度联盟http://www.deepbbs.org</dc:creator>
  <cp:lastModifiedBy>bdwms</cp:lastModifiedBy>
  <cp:revision>91</cp:revision>
  <dcterms:created xsi:type="dcterms:W3CDTF">2019-03-23T06:53:29Z</dcterms:created>
  <dcterms:modified xsi:type="dcterms:W3CDTF">2019-03-23T06:53:29Z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2052-10.1.0.6758</vt:lpwstr>
  </property>
</Properties>
</file>